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65860db174a08" /><Relationship Type="http://schemas.openxmlformats.org/officeDocument/2006/relationships/extended-properties" Target="/docProps/app.xml" Id="Rf7f27ee7ffb748a7" /><Relationship Type="http://schemas.openxmlformats.org/officeDocument/2006/relationships/officeDocument" Target="/ppt/presentation.xml" Id="Rc9302c4e25af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d5b4f463241eb"/>
  </p:sldMasterIdLst>
  <p:notesMasterIdLst>
    <p:notesMasterId xmlns:r="http://schemas.openxmlformats.org/officeDocument/2006/relationships" r:id="R5878088d43184bc9"/>
  </p:notesMasterIdLst>
  <p:sldIdLst>
    <p:sldId xmlns:r="http://schemas.openxmlformats.org/officeDocument/2006/relationships" id="256" r:id="Raf786dd8235341b7"/>
    <p:sldId xmlns:r="http://schemas.openxmlformats.org/officeDocument/2006/relationships" id="257" r:id="R1784d628d5044ef2"/>
    <p:sldId xmlns:r="http://schemas.openxmlformats.org/officeDocument/2006/relationships" id="258" r:id="R3afe076a2d0342a7"/>
    <p:sldId xmlns:r="http://schemas.openxmlformats.org/officeDocument/2006/relationships" id="259" r:id="Rd02516bd27bc43e2"/>
    <p:sldId xmlns:r="http://schemas.openxmlformats.org/officeDocument/2006/relationships" id="260" r:id="R091d0570bd724e6b"/>
    <p:sldId xmlns:r="http://schemas.openxmlformats.org/officeDocument/2006/relationships" id="261" r:id="R57178956d06d40f4"/>
    <p:sldId xmlns:r="http://schemas.openxmlformats.org/officeDocument/2006/relationships" id="262" r:id="Rcb66d717806541b8"/>
    <p:sldId xmlns:r="http://schemas.openxmlformats.org/officeDocument/2006/relationships" id="263" r:id="R2e9d393c9dfa4249"/>
    <p:sldId xmlns:r="http://schemas.openxmlformats.org/officeDocument/2006/relationships" id="264" r:id="R04f1f62f38f84246"/>
    <p:sldId xmlns:r="http://schemas.openxmlformats.org/officeDocument/2006/relationships" id="265" r:id="R143a8b9053fc4d38"/>
    <p:sldId xmlns:r="http://schemas.openxmlformats.org/officeDocument/2006/relationships" id="266" r:id="R24824c926a234163"/>
    <p:sldId xmlns:r="http://schemas.openxmlformats.org/officeDocument/2006/relationships" id="267" r:id="R7bb44b2319a94b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d5b4f463241eb" /><Relationship Type="http://schemas.openxmlformats.org/officeDocument/2006/relationships/theme" Target="/ppt/theme/theme1.xml" Id="R6ffa204054c84fd2" /><Relationship Type="http://schemas.openxmlformats.org/officeDocument/2006/relationships/notesMaster" Target="/ppt/notesMasters/notesMaster1.xml" Id="R5878088d43184bc9" /><Relationship Type="http://schemas.openxmlformats.org/officeDocument/2006/relationships/presProps" Target="/ppt/presProps.xml" Id="R0b933df0eaab4b99" /><Relationship Type="http://schemas.openxmlformats.org/officeDocument/2006/relationships/viewProps" Target="/ppt/viewProps.xml" Id="R71ee129c3ad04310" /><Relationship Type="http://schemas.openxmlformats.org/officeDocument/2006/relationships/tableStyles" Target="/ppt/tableStyles.xml" Id="Raf14f238f97749d5" /><Relationship Type="http://schemas.openxmlformats.org/officeDocument/2006/relationships/slide" Target="/ppt/slides/slide1.xml" Id="Raf786dd8235341b7" /><Relationship Type="http://schemas.openxmlformats.org/officeDocument/2006/relationships/slide" Target="/ppt/slides/slide2.xml" Id="R1784d628d5044ef2" /><Relationship Type="http://schemas.openxmlformats.org/officeDocument/2006/relationships/slide" Target="/ppt/slides/slide3.xml" Id="R3afe076a2d0342a7" /><Relationship Type="http://schemas.openxmlformats.org/officeDocument/2006/relationships/slide" Target="/ppt/slides/slide4.xml" Id="Rd02516bd27bc43e2" /><Relationship Type="http://schemas.openxmlformats.org/officeDocument/2006/relationships/slide" Target="/ppt/slides/slide5.xml" Id="R091d0570bd724e6b" /><Relationship Type="http://schemas.openxmlformats.org/officeDocument/2006/relationships/slide" Target="/ppt/slides/slide6.xml" Id="R57178956d06d40f4" /><Relationship Type="http://schemas.openxmlformats.org/officeDocument/2006/relationships/slide" Target="/ppt/slides/slide7.xml" Id="Rcb66d717806541b8" /><Relationship Type="http://schemas.openxmlformats.org/officeDocument/2006/relationships/slide" Target="/ppt/slides/slide8.xml" Id="R2e9d393c9dfa4249" /><Relationship Type="http://schemas.openxmlformats.org/officeDocument/2006/relationships/slide" Target="/ppt/slides/slide9.xml" Id="R04f1f62f38f84246" /><Relationship Type="http://schemas.openxmlformats.org/officeDocument/2006/relationships/slide" Target="/ppt/slides/slide10.xml" Id="R143a8b9053fc4d38" /><Relationship Type="http://schemas.openxmlformats.org/officeDocument/2006/relationships/slide" Target="/ppt/slides/slide11.xml" Id="R24824c926a234163" /><Relationship Type="http://schemas.openxmlformats.org/officeDocument/2006/relationships/slide" Target="/ppt/slides/slide12.xml" Id="R7bb44b2319a9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090bd8c35d4c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ac40c187745b0" /><Relationship Type="http://schemas.openxmlformats.org/officeDocument/2006/relationships/notesMaster" Target="/ppt/notesMasters/notesMaster1.xml" Id="R217f7d8f6d2b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9f02732c7947b7" /><Relationship Type="http://schemas.openxmlformats.org/officeDocument/2006/relationships/notesMaster" Target="/ppt/notesMasters/notesMaster1.xml" Id="Rad759b684b6d49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e9e3a4ee744005" /><Relationship Type="http://schemas.openxmlformats.org/officeDocument/2006/relationships/notesMaster" Target="/ppt/notesMasters/notesMaster1.xml" Id="R9f3f31ff837f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e23610273a4303" /><Relationship Type="http://schemas.openxmlformats.org/officeDocument/2006/relationships/notesMaster" Target="/ppt/notesMasters/notesMaster1.xml" Id="R06b7ae299c49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a63398a70c4ce3" /><Relationship Type="http://schemas.openxmlformats.org/officeDocument/2006/relationships/notesMaster" Target="/ppt/notesMasters/notesMaster1.xml" Id="R2f7468e3b2de43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e090cd731f44b6" /><Relationship Type="http://schemas.openxmlformats.org/officeDocument/2006/relationships/notesMaster" Target="/ppt/notesMasters/notesMaster1.xml" Id="R376ec7316e9741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bc759b811f4b20" /><Relationship Type="http://schemas.openxmlformats.org/officeDocument/2006/relationships/notesMaster" Target="/ppt/notesMasters/notesMaster1.xml" Id="Rb973291a400344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7417e889544268" /><Relationship Type="http://schemas.openxmlformats.org/officeDocument/2006/relationships/notesMaster" Target="/ppt/notesMasters/notesMaster1.xml" Id="R46fc849c75dd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041752c5c4dc2" /><Relationship Type="http://schemas.openxmlformats.org/officeDocument/2006/relationships/notesMaster" Target="/ppt/notesMasters/notesMaster1.xml" Id="R3722fd38026441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ba8fd973d14454" /><Relationship Type="http://schemas.openxmlformats.org/officeDocument/2006/relationships/notesMaster" Target="/ppt/notesMasters/notesMaster1.xml" Id="Rbb87fbee057040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71e1fbb33f4fd3" /><Relationship Type="http://schemas.openxmlformats.org/officeDocument/2006/relationships/notesMaster" Target="/ppt/notesMasters/notesMaster1.xml" Id="Ra6d64d16c2694d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0b9693febd4f31" /><Relationship Type="http://schemas.openxmlformats.org/officeDocument/2006/relationships/notesMaster" Target="/ppt/notesMasters/notesMaster1.xml" Id="R44b2faf001ed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0b4aead5a41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fe7e2b8cd2846a8" /><Relationship Type="http://schemas.openxmlformats.org/officeDocument/2006/relationships/slideLayout" Target="/ppt/slideLayouts/slideLayout2.xml" Id="Rc3fd10b0d42a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d10b0d42a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64d9d4fc04048" /><Relationship Type="http://schemas.openxmlformats.org/officeDocument/2006/relationships/notesSlide" Target="/ppt/notesSlides/notesSlide1.xml" Id="R17e0305653c847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469a57a1594621" /><Relationship Type="http://schemas.openxmlformats.org/officeDocument/2006/relationships/notesSlide" Target="/ppt/notesSlides/notesSlide2.xml" Id="Rfd3c5376cdda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a1bb03ec0b4655" /><Relationship Type="http://schemas.openxmlformats.org/officeDocument/2006/relationships/notesSlide" Target="/ppt/notesSlides/notesSlide3.xml" Id="R25fa7f16585c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10fedf75a47cb" /><Relationship Type="http://schemas.openxmlformats.org/officeDocument/2006/relationships/notesSlide" Target="/ppt/notesSlides/notesSlide4.xml" Id="R487ad85c05294b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067ec00f1d4735" /><Relationship Type="http://schemas.openxmlformats.org/officeDocument/2006/relationships/notesSlide" Target="/ppt/notesSlides/notesSlide5.xml" Id="Ra7cd858afd6044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966d3318e54672" /><Relationship Type="http://schemas.openxmlformats.org/officeDocument/2006/relationships/image" Target="/ppt/media/image.png" Id="Rd4ac47ab5ec540e9" /><Relationship Type="http://schemas.openxmlformats.org/officeDocument/2006/relationships/notesSlide" Target="/ppt/notesSlides/notesSlide6.xml" Id="Rde0f66384061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868a9219874bc8" /><Relationship Type="http://schemas.openxmlformats.org/officeDocument/2006/relationships/image" Target="/ppt/media/image2.png" Id="R69e150beac3f49b7" /><Relationship Type="http://schemas.openxmlformats.org/officeDocument/2006/relationships/notesSlide" Target="/ppt/notesSlides/notesSlide7.xml" Id="R926e69db06174a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1a1ef23f2480e" /><Relationship Type="http://schemas.openxmlformats.org/officeDocument/2006/relationships/image" Target="/ppt/media/image3.png" Id="R6df7e8b700724994" /><Relationship Type="http://schemas.openxmlformats.org/officeDocument/2006/relationships/notesSlide" Target="/ppt/notesSlides/notesSlide8.xml" Id="R039a45eae38947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2d43b4bc044ea" /><Relationship Type="http://schemas.openxmlformats.org/officeDocument/2006/relationships/image" Target="/ppt/media/image.jpeg" Id="R6c0c7f7e896d4bdc" /><Relationship Type="http://schemas.openxmlformats.org/officeDocument/2006/relationships/image" Target="/ppt/media/image2.jpeg" Id="Ra9e2cf947cb64daa" /><Relationship Type="http://schemas.openxmlformats.org/officeDocument/2006/relationships/image" Target="/ppt/media/image3.jpeg" Id="R193ad4a89d05419c" /><Relationship Type="http://schemas.openxmlformats.org/officeDocument/2006/relationships/notesSlide" Target="/ppt/notesSlides/notesSlide9.xml" Id="R9492ebbee1de46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152e36d3b4a40" /><Relationship Type="http://schemas.openxmlformats.org/officeDocument/2006/relationships/image" Target="/ppt/media/image4.jpeg" Id="R2e469c0e220a458b" /><Relationship Type="http://schemas.openxmlformats.org/officeDocument/2006/relationships/image" Target="/ppt/media/image5.jpeg" Id="R4a1b2abbb660495e" /><Relationship Type="http://schemas.openxmlformats.org/officeDocument/2006/relationships/notesSlide" Target="/ppt/notesSlides/notesSlide10.xml" Id="Rde621b78bc3e40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c745f762d421a" /><Relationship Type="http://schemas.openxmlformats.org/officeDocument/2006/relationships/notesSlide" Target="/ppt/notesSlides/notesSlide11.xml" Id="Rd316522a947649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5614b9d894a75" /><Relationship Type="http://schemas.openxmlformats.org/officeDocument/2006/relationships/notesSlide" Target="/ppt/notesSlides/notesSlide12.xml" Id="R3a6172bb2ee340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ECA92-E017-4BE1-BE6D-B7A580A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0E5E46-D636-46E5-93A8-44DF4436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EB5F04-5A1D-4149-B0F3-94D9C859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CCB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BFDCCB"/>
                </a:solidFill>
                <a:latin typeface="Sylfaen"/>
                <a:ea typeface="Sylfaen"/>
                <a:cs typeface="Sylfaen"/>
              </a:rPr>
              <a:t>ԱՎԱՐՏԱԿԱՆ ԱՇԽԱՏԱՆՔ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51E77-4847-4D8E-8CCA-645CE76A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BB2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A8BBB2"/>
                </a:solidFill>
                <a:latin typeface="Sylfaen"/>
                <a:ea typeface="Sylfaen"/>
                <a:cs typeface="Sylfae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A8B1C-6A11-425D-A08F-BA991A6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38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300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Թեմատիկ վեբ կայքի ստեղծում առաջատար վեբ ծրագրավորմամբ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97655-C04F-4039-9FFE-E22F8BFE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DCCB"/>
                </a:solidFill>
                <a:latin typeface="Sylfaen"/>
                <a:ea typeface="Sylfaen"/>
                <a:cs typeface="Sylfaen"/>
              </a:defRPr>
            </a:pPr>
            <a:r>
              <a:rPr sz="1650" b="0">
                <a:solidFill>
                  <a:srgbClr val="BFDCCB"/>
                </a:solidFill>
                <a:latin typeface="Sylfaen"/>
                <a:ea typeface="Sylfaen"/>
                <a:cs typeface="Sylfaen"/>
              </a:rPr>
              <a:t>Անձնական նպատակների հետևման full-stack հարթակ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6A519-2462-4BAE-8056-7A0711B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6381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8A375-D760-46FB-AAEA-60DCB818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Սուրեն Արզումանյան</a:t>
            </a:r>
          </a:p>
          <a:p xmlns:a="http://schemas.openxmlformats.org/drawingml/2006/main">
            <a:pPr algn="l">
              <a:defRPr sz="1350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Եվրասիա միջազգային համալսարան</a:t>
            </a:r>
          </a:p>
          <a:p xmlns:a="http://schemas.openxmlformats.org/drawingml/2006/main">
            <a:pPr algn="l">
              <a:defRPr sz="1350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Կառավարման և տեղեկատվական տեխնոլոգիաների ամբիոն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0EF80-1508-4E40-9F64-6AEB587D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24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228D6-D9FE-4FFA-9FD9-CC678A76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EEA18-EA5F-4C7B-9687-62A35F96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Բակալավրի ավարտական աշխատանք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C2DFB-A3D5-4722-B587-C85B5EC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43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FDCCB"/>
                </a:solidFill>
                <a:latin typeface="Sylfaen"/>
                <a:ea typeface="Sylfaen"/>
                <a:cs typeface="Sylfaen"/>
              </a:defRPr>
            </a:pPr>
            <a:r>
              <a:rPr sz="2400" b="1">
                <a:solidFill>
                  <a:srgbClr val="BFDCCB"/>
                </a:solidFill>
                <a:latin typeface="Sylfaen"/>
                <a:ea typeface="Sylfaen"/>
                <a:cs typeface="Sylfaen"/>
              </a:rPr>
              <a:t>Next.js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56F50-9E54-4E65-B2E7-9F38A391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67375"/>
            <a:ext cx="2762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9899E-F701-47D3-8E06-16A66B1F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72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Ժամանակակից full-stack իրականացում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7B5A1-0BC0-4852-BC84-3512F497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24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Goal tracking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57D1E-D6E9-49D8-AC0D-740775E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73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307D1-9191-47EF-A245-ABCA326F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Ընտրված թեմատիկ ուղղություն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49302-E6EE-4D0B-BE27-01A48012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00100"/>
            <a:ext cx="2286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860A6-E77B-4D1F-B54E-CF4E25BF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382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BF09F-354A-4A06-9438-8B4190A3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C1921-C36A-49A0-A876-9D20F34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9CCA5-9D6D-4B01-8D02-81EEF078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BF8E4-4375-4329-B5AD-7798BE0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814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1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1755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77ED4-18DE-4265-9FDE-D9C2506B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ED0196-23DF-480A-9E14-C831971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8EEDCC-8D50-45D8-A711-50746071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ԽՆԴԻՐ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DC492-F9DA-4354-9012-BB656701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EA008-FEB6-4BFF-8277-6BBE391F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Նպատակների կառավարումը մասնատված է, իսկ հետևողականությունը կորում է գործիքների միջև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E5A66-9A8A-4D23-A6E9-3430D4D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75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Օգտատերը հաճախ առանձին միջավայրերում է պահում նպատակը, ենթաքայլերը, վերջնաժամկետը, հիշեցումը և արդյունքների վերլուծությունը։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875B7-2666-413B-9FE3-B0BCEF2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07CB2-79EB-4A57-BFE7-144388F8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մասնատված տվյալներ տարբեր հավելվածներում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C5C19-05B1-4719-A0B1-4EB33E76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AF4B5-2D6A-42AC-96CE-08BFA56E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ճանաչողական լրացուցիչ ծանրաբեռնվածություն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13ED8-CB1F-4999-B252-96A00F46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E7C7A-D831-4C4B-BB9A-CBD8B77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առաջընթացի պատմության և feedback-ի պակաս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7C04C-9A85-49FA-ABD5-FD9DBD39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B53F-E461-4ECC-A2F2-8B687D8C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mobile և desktop փորձի անհամաչափություն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0CA36-B05A-4F70-9919-770F28BE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F5021-B3E6-47CC-B859-4137F43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13340-9C65-4969-9BDB-1B49632E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478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122CF-7E17-4A5A-A8D5-CE1EE28F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1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E4049-2EC8-488C-835F-2B3085F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1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C1A7D-3724-40D5-9781-945CAE4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Պլանավորում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655D5-6B13-4466-8199-6789A849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Գործողություն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FB325-D008-412E-A3A0-23EB6B1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479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Վերլուծություն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DBB63-98AC-484D-80EB-F37A5E5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F6E83-0988-46D0-AF39-1085E61C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210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Հետազոտական առանցք՝</a:t>
            </a:r>
          </a:p>
          <a:p xmlns:a="http://schemas.openxmlformats.org/drawingml/2006/main">
            <a:pPr algn="ctr">
              <a:defRPr sz="18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ինչպես մեկ պաշտպանված վեբ միջավայրում միավորել այս փուլերը։</a:t>
            </a:r>
          </a:p>
        </p:txBody>
      </p:sp>
    </p:spTree>
    <p:extLst>
      <p:ext uri="{BB962C8B-B14F-4D97-AF65-F5344CB8AC3E}">
        <p14:creationId xmlns:p14="http://schemas.microsoft.com/office/powerpoint/2010/main" val="15620085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F2234-748E-40E0-812C-1E3965B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301EBA-7CAB-46EA-976B-C0AE0E2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DEEB16-2AB8-4784-832C-DE037BF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ՆՊԱՏԱԿ ԵՎ ԽՆԴԻՐՆԵՐ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CB329-04C7-4A6C-A190-96218A25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DF311-A865-4CF7-95A8-F4B2B9D3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2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Աշխատանքը միացնում է ակադեմիական վերլուծությունը և կիրառական full-stack իրականացումը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C9838-75DE-4DC6-8D79-306DFC2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619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D33E9-111B-49B9-9C05-887C0F8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048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3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Նպատակ՝ մշակել անձնական նպատակների կառավարման թեմատիկ վեբ կայք առաջատար վեբ ծրագրավորման մոտեցումներով։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09576-FA3C-4FD2-9FDE-C7CA2A13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EC45-1E77-4F4E-8ECE-1A25D546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գնահատել գիտական մոտեցումները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E4707-A6D7-4D55-9E1E-7F750FD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80C71-7847-4BA6-A286-0AF9208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համեմատել գործող թվային լուծումները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6685E-A55C-4813-8683-BBB84EE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A3822-C84F-4338-AC4B-A50570FA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մշակել կառուցվածքը, տվյալների մոդելը և գործառույթները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48894-ED64-4F11-B962-A62D331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1177C-D0F6-4671-9FDB-8E1BB2B4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գնահատել usability-ն ու ֆունկցիոնալ ամբողջականությունը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117FA-BAF6-4204-8EA0-DD5E689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8D84B-4C1A-45CA-A64C-43D73737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ապացուցել մասնատվածության նվազեցումը ինտեգրմամբ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C7DB3-D872-4200-8B90-C524AAB5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6C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0CDE5-3D37-49A7-A174-0B7F12B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717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Գրականություն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58404-9B3A-4E0F-9CF4-1AA2ADFF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6CD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21480-E1BC-4E9C-86BF-A66066FD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Համեմատություն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693D8-C66B-4BF8-B274-B96161C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6CD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8E0F4-595C-44EB-880F-E5F742C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956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Մշակում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96970-7F30-4456-A440-26AF8376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6CD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FA36F-F17D-44B4-90F8-99195FC1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956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Գնահատում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B9E88-9C09-4CFA-9B0D-4EC3DA1A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9525">
            <a:solidFill>
              <a:srgbClr val="2F7D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74805-4AB7-489B-899B-FA4812EF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96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275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Եզրակացություն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50694-6595-424C-9B5A-690A279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7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Չափելի բայերը պահում են խնդրից դեպի մեթոդ, արդյունք և առաջարկություն տրամաբանական շղթան։</a:t>
            </a:r>
          </a:p>
        </p:txBody>
      </p:sp>
    </p:spTree>
    <p:extLst>
      <p:ext uri="{BB962C8B-B14F-4D97-AF65-F5344CB8AC3E}">
        <p14:creationId xmlns:p14="http://schemas.microsoft.com/office/powerpoint/2010/main" val="13805004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0DB13-F694-4BC9-95F9-37E6C72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661A87-CB60-49D9-A2DD-364EB22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24AE60-5AB6-42AA-A721-25AC057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ԳՐԱԿԱՆՈՒԹՅԱՆ ԵԶՐԱԿԱՑՈՒԹՅՈՒՆ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7D039-569C-44D8-8AF2-4C289A7B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BA90-CF6F-4E98-BABB-BDD3373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Արդյունավետ goal tracking-ը պահանջում է չափելի նպատակ, փուլային բաժանում և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03CF-4FEE-4705-9D4C-B4377F6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238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Գրականության վերլուծությունը համակարգի պահանջները չի թողնում միայն UX ենթադրությունների վրա․ յուրաքանչյուր հիմնական մոդուլ կապված է տեսական սկզբունքի հետ։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0780B-84D4-412C-A54A-6B272F6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SMART / չափելիություն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85EDF-89EB-4AF8-858D-EE0EF970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527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8DF98-8B0A-4E51-B954-43BB5A92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52750"/>
            <a:ext cx="315468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3911C-818C-4B6F-8CD5-1C89059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05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69AD3-65B4-4803-BAEC-5C1EF10B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Goal Setting Theory / հստակություն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7BE6B-E426-4DB5-A71D-75222DD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B5F86-B13A-45BC-92B8-E7EDD0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29489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56384-977B-4F80-81B1-D6176363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38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6B86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3D6B86"/>
                </a:solidFill>
                <a:latin typeface="Sylfaen"/>
                <a:ea typeface="Sylfaen"/>
                <a:cs typeface="Sylfaen"/>
              </a:rPr>
              <a:t>86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FBAA8-B2DE-4130-94C5-D97211A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OKR / փուլային տրամաբանություն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29FA1-70FF-4EED-AED5-4EBD0BD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A0DC3-DD64-4C35-82D8-CA130B8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26746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74747-B3E3-4A28-8365-6ABAE30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719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2D595-C993-4122-B7CC-44ED162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UX / մատչելի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2EF1D-52CB-4737-8A83-F6EB37CA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518B1-0AB8-462F-A9CD-EBBBB99D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28803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82D9B-D74A-408B-A379-EE746B75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053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554A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A9554A"/>
                </a:solidFill>
                <a:latin typeface="Sylfaen"/>
                <a:ea typeface="Sylfaen"/>
                <a:cs typeface="Sylfaen"/>
              </a:rPr>
              <a:t>84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3854F-EAFF-4CB5-82FE-658398DB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143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1B103-34EF-431B-AFD7-EAB2BA1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Դիզայնի թարգմանություն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D2462-80CA-4EED-9A1C-61FB96D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190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9C23A-93EA-48BC-A89A-D09CE97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Goal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BC318-5EEB-4970-B1D5-072362DA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2190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34A0B-6D6A-4965-A59B-386794E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Milestone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0FD6C-7F57-4FCE-8F16-51941FCC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2190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8183B-9CA1-4E2F-A4AE-96F36302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ProgressLog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24CC2-B0B7-41B2-953A-697885D4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2190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70145-8B2B-4EE4-9959-4E641AC2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3F85E-3214-496B-A35A-5AE9278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2190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8927F7-CB3C-46A1-A5DA-B1475BE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9760234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F08C2-C628-439C-8429-62DB9EE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FE1967-B28C-498D-BFC8-2E3069A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158BCF-4C5A-42DE-8BD6-0B793DCD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ՀԱՄԵՄԱՏԱԿԱՆ ՎԵՐԼՈՒԾՈՒԹՅՈՒՆ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6AB19-4661-44BE-9EDD-5598988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5CAF0-4947-4443-8D9B-1794A58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Շուկայի գործիքները ուժեղ են առանձին ուղղություններով, բայց ամբողջ գործընթացը չեն միավորում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72EC8-9F90-4F4A-AF3E-5D36EA8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Գործիք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4D33E-20CE-4A5D-B061-28D5B65B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Ուժեղ կողմ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F74D7-4E41-46EE-8029-A87B45E1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Բացը աշխատանքի խնդրի համար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CF573-70CD-443D-B9F6-9857BEBA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08951-5917-4E43-BEF6-020C530B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Todoist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C48FF-2EC5-4FD1-9F37-3B8476C4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task/project կառավարում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4DBF6-CD3B-4A96-9C59-1CE2AA20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433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նպատակը երկրորդային 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B02E7-AA5F-4A5D-A04D-EE25056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3F0CB-EC32-43C7-89A9-9319211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Habitica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F0C86-80B7-4AE8-9C17-3FDB535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խաղայնացված մոտիվացիա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4F246-3CEA-46A6-ACE0-12B60F60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33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ոչ բոլոր օգտատերերի համար է բնական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156C9-AB31-44B3-9198-824FAD8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3D97D-2CB1-4F5C-B39F-32546DC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Strides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10AD0-3A12-4B87-AF16-973DCEF8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habit և tracker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85B1E-5A20-43A7-B568-775640DC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33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կապված է կոնկրետ էկոհամակարգի հետ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25AB8-1AC6-43A3-A77E-F53AAC43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81CE5-1B13-4212-8F3B-280AD174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Goals on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DB9B3-89CC-4F3D-9678-B21CA726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SMART/OKR մոտեցում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9D6EA-0E62-448C-BF74-D5FDAD71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33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սահմանափակ self-hosting և ճկունություն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0C775-0EF7-40DF-8ADE-0FE17E4F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3F4FD-B73D-42F3-B825-6BA7FA53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35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Մշակված կայք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4F8B8-7E7B-461F-9B30-ABFA01E5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նպատակ + ենթանպատակ +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B596B-E6E0-4FFA-BC03-6960D387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33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հաջորդ փուլում պետք է լայն usability testing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644C5-9B04-4E7F-A132-A695AEB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28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425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Արդյունք՝ պետք էր ոչ թե կրկնել առկա հավելվածը, այլ կառուցել հավասարակշռված թեմատիկ կայք։</a:t>
            </a:r>
          </a:p>
        </p:txBody>
      </p:sp>
    </p:spTree>
    <p:extLst>
      <p:ext uri="{BB962C8B-B14F-4D97-AF65-F5344CB8AC3E}">
        <p14:creationId xmlns:p14="http://schemas.microsoft.com/office/powerpoint/2010/main" val="14150833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8281B-90F4-443A-92A5-18F8A78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EE64DA-13DD-4F5E-8B3C-7A8C89E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A161AE-51C6-4ADB-AB17-978BA6EF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ՃԱՐՏԱՐԱՊԵՏՈՒԹՅՈՒՆ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9E02A-D0E3-4D98-B082-9D5BE4A1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0D189-B557-4334-8DD7-A83327E6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Next.js App Router-ը պահում է էջերը, server actions-ը և պաշտպանված տվյալները մեկ համակարգում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444BC-0823-401D-AFCD-7CD5872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67246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c47ab5ec540e9"/>
          <a:stretch xmlns:a="http://schemas.openxmlformats.org/drawingml/2006/main"/>
        </p:blipFill>
        <p:spPr>
          <a:xfrm xmlns:a="http://schemas.openxmlformats.org/drawingml/2006/main">
            <a:off x="2312059" y="1790700"/>
            <a:ext cx="3053032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4F9DD-1E3A-42E0-A280-7B01F919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621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2F7D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F50A4-8A7B-4E7B-AACC-3DF842F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002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0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Protected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0F805-93E9-4D2C-9FB6-0528BC4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33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3D6B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79B17-6056-46F4-973B-E4CD6E12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717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0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Auth.js v5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791A1-65D9-46F1-8F70-2CCDE721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051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C998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591A2-9F5D-413C-AB01-F95CA533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432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0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Prisma typed 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93B2C-DDCC-4DF0-A0B9-800C8D5A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76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solidFill>
              <a:srgbClr val="1023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DDACF-4F4C-4360-B609-A5E9AF36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147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0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PostgreSQL +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72682-4FCE-40B5-A087-1C1263A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3190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Կարևոր ընտրություն՝ տվյալների մեծ մասը կապված է կոնկրետ օգտատիրոջ հետ, ուստի mutation-ները կատարվում են սերվերի կողմում session և ownership ստուգումներով։</a:t>
            </a:r>
          </a:p>
        </p:txBody>
      </p:sp>
    </p:spTree>
    <p:extLst>
      <p:ext uri="{BB962C8B-B14F-4D97-AF65-F5344CB8AC3E}">
        <p14:creationId xmlns:p14="http://schemas.microsoft.com/office/powerpoint/2010/main" val="1024643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CE2A4-9518-4DA3-91AA-BABA9B28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FB8931-BA0C-44BB-800D-C749A18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A3003C-CCDB-4BE5-B301-F73C0188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ՏՎՅԱԼՆԵՐԻ ՄՈԴԵԼ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45251-39D1-4CE4-B4CF-F9977777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4D461-2832-41D1-AFC4-D7F88474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2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Տվյալների բազան կառուցված է Goal-ի շուրջ՝ պահելով ownership և պատմական առաջընթաց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09F26-3430-448C-94DA-CFBFD25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5724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150beac3f49b7"/>
          <a:stretch xmlns:a="http://schemas.openxmlformats.org/drawingml/2006/main"/>
        </p:blipFill>
        <p:spPr>
          <a:xfrm xmlns:a="http://schemas.openxmlformats.org/drawingml/2006/main">
            <a:off x="7204023" y="2095500"/>
            <a:ext cx="1832080" cy="3257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B05E0-AFB5-488B-BE25-45126B7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E143E-E1B1-462C-82CB-8AABC15D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425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929D9-DE2C-4FEF-A420-0B9B27B1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սեփականություն և նույնականացում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9D3E8-37F4-49D3-90CD-1B6CFDB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1023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891B0-A8AE-49F0-AE2E-487A3F0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425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919FE-FCFD-4998-B2B2-809D19A7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վերնագիր, արժեքներ, կարգավիճակ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B266C-9DE9-4F8E-9873-1361CCD2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67534-3E6B-4811-992B-EE5C766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425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Milestone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74E82-E8DF-4C8E-9EB1-37D1E48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52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նպատակի ենթաքայլեր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F81F3-0A23-40B4-B501-490A60A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44C68-0B99-48BC-82D9-9F1DDC1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425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ProgressLog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09A28-65F0-4BDA-AE72-6C6EEE77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առաջընթացի պատմություն և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C5DE5-F82E-459B-8C1D-1FFC5DBE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419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Այս մոդելը թույլ է տալիս ցուցադրել արագ dashboard և միաժամանակ պահել պատմական տվյալների վերլուծությունը։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15200026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8601A-342D-4F65-9B6F-D51DB94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D41E6A-FEB2-4494-851A-DCF2F0A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EF45F67-7219-4D2A-A9EB-C599C1F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ՕԳՏԱՏԻՐՈՋ ՀՈՍՔ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62103-D2FE-4F20-B940-B7DF6D11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2FF81-9B2A-4B62-9E9B-B3CA156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2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Օգտատիրոջ ճանապարհը փակվում է նույն շրջանի մեջ՝ մուտք, նպատակ, առաջընթաց, վերլուծություն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3D802-584C-4A3A-9CC8-FD3A91ED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54864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7e8b700724994"/>
          <a:stretch xmlns:a="http://schemas.openxmlformats.org/drawingml/2006/main"/>
        </p:blipFill>
        <p:spPr>
          <a:xfrm xmlns:a="http://schemas.openxmlformats.org/drawingml/2006/main">
            <a:off x="666750" y="2979284"/>
            <a:ext cx="5334000" cy="120423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3E48E-8C8E-4D5E-939C-0D7A276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FEC25-A5FF-46DE-913C-002A422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52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Մուտք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859BC-4AB3-45C1-A260-448A84C1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Google կամ email/password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63C47-E68D-4C6F-B432-0FF9E60E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38329-8976-4FDC-910F-E7A74F8F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337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56C95-72F6-4C4D-9732-5B0A1D92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Նպատակ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3FF8D-040D-4D7E-9300-13721F7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CRUD, ֆիլտրեր, որոնում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4FE44-DB24-44EE-A58E-276458A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03A50-1D27-4DD3-9330-58B94FD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BC3ED-BBA3-422C-95FA-E319804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Առաջընթաց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8A8E5-C9BB-4681-A020-2E4EB8A4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19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Milestone և ProgressLog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50DDE-1B0D-4BB1-9383-F3985FD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24325"/>
            <a:ext cx="19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55365-A8F2-41A4-9E70-2EF92601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46CB5-91B2-4104-9A20-5976E5D0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95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75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Վերլուծություն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F858B-A8D4-4EF9-896A-6480BD7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00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200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Dashboard և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5DAB6-339F-4721-A634-7AA3A7B3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6735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Պլանավորումը, գործողությունը և feedback-ը այլևս չեն բաժանվում առանձին գործիքների միջև։</a:t>
            </a:r>
          </a:p>
        </p:txBody>
      </p:sp>
    </p:spTree>
    <p:extLst>
      <p:ext uri="{BB962C8B-B14F-4D97-AF65-F5344CB8AC3E}">
        <p14:creationId xmlns:p14="http://schemas.microsoft.com/office/powerpoint/2010/main" val="2195063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AC7C2-01D7-4456-9EC6-9E7DE4D5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C9B0E4-17B8-402C-91CC-6A813C8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611870-1C85-4D12-A6DC-9DA98FE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ԻՐԱԿԱՆԱՑՎԱԾ ՄԻՋԵՐԵՍ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21F0D-D87C-4B6D-9460-801321F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8CBF-2ED7-4E29-9571-33D9C3E5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Հիմնական էջերը ծածկում են նպատակների ստեղծումը, հետևումը և մանրամասն կառավարումը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B72A4-257B-4991-AE59-4B0BBC09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814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c7f7e896d4bdc"/>
          <a:stretch xmlns:a="http://schemas.openxmlformats.org/drawingml/2006/main"/>
        </p:blipFill>
        <p:spPr>
          <a:xfrm xmlns:a="http://schemas.openxmlformats.org/drawingml/2006/main">
            <a:off x="1089654" y="1771650"/>
            <a:ext cx="2240292" cy="2305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B0792-5A3D-498C-9D74-AC209549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35814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2cf947cb64daa"/>
          <a:stretch xmlns:a="http://schemas.openxmlformats.org/drawingml/2006/main"/>
        </p:blipFill>
        <p:spPr>
          <a:xfrm xmlns:a="http://schemas.openxmlformats.org/drawingml/2006/main">
            <a:off x="4878310" y="1771650"/>
            <a:ext cx="2206779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F9112-207C-4174-BC63-BE88049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5336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ad4a89d05419c"/>
          <a:stretch xmlns:a="http://schemas.openxmlformats.org/drawingml/2006/main"/>
        </p:blipFill>
        <p:spPr>
          <a:xfrm xmlns:a="http://schemas.openxmlformats.org/drawingml/2006/main">
            <a:off x="8039100" y="2254448"/>
            <a:ext cx="2381250" cy="133945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E2F6D-2FEF-4A91-94F6-1406695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5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Goals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8BFEB-536E-454F-8D3E-1421BF6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6B86"/>
                </a:solidFill>
                <a:latin typeface="Sylfaen"/>
                <a:ea typeface="Sylfaen"/>
                <a:cs typeface="Sylfaen"/>
              </a:defRPr>
            </a:pPr>
            <a:r>
              <a:rPr sz="1500" b="1">
                <a:solidFill>
                  <a:srgbClr val="3D6B86"/>
                </a:solidFill>
                <a:latin typeface="Sylfaen"/>
                <a:ea typeface="Sylfaen"/>
                <a:cs typeface="Sylfaen"/>
              </a:rPr>
              <a:t>Goal 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C5004-7C48-4972-AF31-4CCBEB9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5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4C71C-6133-4232-999B-21853137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50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Իրականացված են՝ նույնականացում, protected էջեր, նպատակների CRUD, ֆիլտրեր, որոնում, ենթանպատակներ, առաջընթացի գրանցում և export։</a:t>
            </a:r>
          </a:p>
        </p:txBody>
      </p:sp>
    </p:spTree>
    <p:extLst>
      <p:ext uri="{BB962C8B-B14F-4D97-AF65-F5344CB8AC3E}">
        <p14:creationId xmlns:p14="http://schemas.microsoft.com/office/powerpoint/2010/main" val="3096613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A4733-2524-4E21-8F4E-BC5B058D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92941C-DCB1-4DFF-96A5-4DE753B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3524BD-007D-4EDE-9FBB-479761B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ՎԵՐԼՈՒԾԱԿԱՆ ԱՐԴՅՈՒՆՔ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87C50-F9CA-4AD6-8F84-2B19311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4CCD0-694E-4249-B2EF-13EF65A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Dashboard-ը և Analytics-ը ստեղծում են հետադարձ կապ՝ ոչ միայն ցուցակային կառավարում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DE388-6672-47D7-8922-DCE40B5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48387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69c0e220a458b"/>
          <a:stretch xmlns:a="http://schemas.openxmlformats.org/drawingml/2006/main"/>
        </p:blipFill>
        <p:spPr>
          <a:xfrm xmlns:a="http://schemas.openxmlformats.org/drawingml/2006/main">
            <a:off x="1706587" y="1733550"/>
            <a:ext cx="2301825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0FCEF-7845-4FEF-913E-4AA31218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57350"/>
            <a:ext cx="48387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b2abbb660495e"/>
          <a:stretch xmlns:a="http://schemas.openxmlformats.org/drawingml/2006/main"/>
        </p:blipFill>
        <p:spPr>
          <a:xfrm xmlns:a="http://schemas.openxmlformats.org/drawingml/2006/main">
            <a:off x="5638800" y="1844278"/>
            <a:ext cx="4686300" cy="263604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ACA17-2E35-4DF5-9AAD-6891876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24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Completion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273DA-3EE7-4AE1-B5D5-DA6CF4C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2762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506F6-3BD0-4F89-9115-7D493B6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ավարտված նպատակների հարաբերակցություն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46834-12D7-4A20-A58C-5160C282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240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Streak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BEE14-E95A-4DCC-B3DB-3DC7C1AE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67375"/>
            <a:ext cx="247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7B2B0-DE9A-47D8-9B31-7B180F9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721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ակտիվ օրերի շարունակականություն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D6C83-A8B6-4E22-A9D3-50FD1EA0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6B86"/>
                </a:solidFill>
                <a:latin typeface="Sylfaen"/>
                <a:ea typeface="Sylfaen"/>
                <a:cs typeface="Sylfaen"/>
              </a:defRPr>
            </a:pPr>
            <a:r>
              <a:rPr sz="2400" b="1">
                <a:solidFill>
                  <a:srgbClr val="3D6B86"/>
                </a:solidFill>
                <a:latin typeface="Sylfaen"/>
                <a:ea typeface="Sylfaen"/>
                <a:cs typeface="Sylfaen"/>
              </a:rPr>
              <a:t>Category mix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99551-2EC2-4E5F-AC40-C95C9E38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67375"/>
            <a:ext cx="304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3950B-B132-4D03-8C76-8695DF2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76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5D6761"/>
                </a:solidFill>
                <a:latin typeface="Sylfaen"/>
                <a:ea typeface="Sylfaen"/>
                <a:cs typeface="Sylfaen"/>
              </a:rPr>
              <a:t>նպատակների բաշխում ըստ ուղղությունների</a:t>
            </a:r>
          </a:p>
        </p:txBody>
      </p:sp>
    </p:spTree>
    <p:extLst>
      <p:ext uri="{BB962C8B-B14F-4D97-AF65-F5344CB8AC3E}">
        <p14:creationId xmlns:p14="http://schemas.microsoft.com/office/powerpoint/2010/main" val="13976114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77B47-225D-4782-B804-3F91B27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8502E3-F67F-418E-8ACA-6E7F2123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B3458C-505F-42A4-B20E-7E334889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62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2F7D62"/>
                </a:solidFill>
                <a:latin typeface="Sylfaen"/>
                <a:ea typeface="Sylfaen"/>
                <a:cs typeface="Sylfaen"/>
              </a:rPr>
              <a:t>ԵԶՐԱԿԱՑՈՒԹՅՈՒՆՆԵՐ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2ACCE-64BE-4FAA-A649-DF754BA8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17C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7A817C"/>
                </a:solidFill>
                <a:latin typeface="Sylfaen"/>
                <a:ea typeface="Sylfaen"/>
                <a:cs typeface="Sylfae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D00CD-24F9-408E-B16F-E1FAD441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Աշխատանքի արդյունքը հաստատում է խնդրից դեպի լուծում ամբողջական շղթան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E329A-795C-4267-A85D-81DC1E1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5D2D1-C67F-4C02-B36B-A086EC60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314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Գիտական աղբյուրները հաստատում են չափելիության, փուլային բաժանման և feedback-ի արժեքը։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ADD2C-3F8E-459A-BF9F-15DCDA6B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82C39-A62F-457D-B955-8D7CA811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314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Համեմատությունը ցույց տվեց, որ շուկայի լուծումները հաճախ կենտրոնանում են մեկ ենթախնդրի վրա։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BB1A1-080F-4927-B7C6-607BD9E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9EB42-AD37-481B-BB2B-827D626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314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Next.js, Prisma, PostgreSQL և Auth.js համադրությունը բավարար է պաշտպանված full-stack կայքի համար։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9607F-0131-4168-B767-882B5BBC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8478B-DBC5-45FA-BDD9-C60C5B8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4314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Մշակված համակարգը միավորում է նպատակը, ենթանպատակը, առաջընթացը և վերլուծությունը։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56DAD-AA00-40CF-956D-B401D6AD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98E99-CD3A-4B00-B03B-851B6855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314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Responsive միջերեսը թույլ է տալիս օգտագործել համակարգը desktop և mobile միջավայրերում։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64202-CB56-4036-9A0E-AC603DC5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31EE1-5D4C-4596-A653-2033D77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29050"/>
            <a:ext cx="4314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350" b="0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Ինտեգրված լուծումը նվազեցնում է նպատակների կառավարման մասնատվածությունը։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1E0DF-25A9-4AF6-9491-B33DA81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1DB2E-164B-4089-A40C-925E7CC1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8165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1F"/>
                </a:solidFill>
                <a:latin typeface="Sylfaen"/>
                <a:ea typeface="Sylfaen"/>
                <a:cs typeface="Sylfaen"/>
              </a:defRPr>
            </a:pPr>
            <a:r>
              <a:rPr sz="1800" b="1">
                <a:solidFill>
                  <a:srgbClr val="17231F"/>
                </a:solidFill>
                <a:latin typeface="Sylfaen"/>
                <a:ea typeface="Sylfaen"/>
                <a:cs typeface="Sylfaen"/>
              </a:rPr>
              <a:t>Խնդիր → մեթոդ → իրականացում → եզրակացություն → առաջարկություն</a:t>
            </a:r>
          </a:p>
        </p:txBody>
      </p:sp>
    </p:spTree>
    <p:extLst>
      <p:ext uri="{BB962C8B-B14F-4D97-AF65-F5344CB8AC3E}">
        <p14:creationId xmlns:p14="http://schemas.microsoft.com/office/powerpoint/2010/main" val="3049681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11344-F0A9-4CFF-9F75-10FF215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9A64C5-C085-4E9E-ADD6-AE2A8D2F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41A46D-7F2C-4DC4-A325-B97C9706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CCB"/>
                </a:solidFill>
                <a:latin typeface="Sylfaen"/>
                <a:ea typeface="Sylfaen"/>
                <a:cs typeface="Sylfaen"/>
              </a:defRPr>
            </a:pPr>
            <a:r>
              <a:rPr sz="1200" b="1">
                <a:solidFill>
                  <a:srgbClr val="BFDCCB"/>
                </a:solidFill>
                <a:latin typeface="Sylfaen"/>
                <a:ea typeface="Sylfaen"/>
                <a:cs typeface="Sylfaen"/>
              </a:rPr>
              <a:t>ԱՌԱՋԱՐԿՈՒԹՅՈՒՆՆԵՐ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F2425-1863-4974-9800-4EE9DB19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BB2"/>
                </a:solidFill>
                <a:latin typeface="Sylfaen"/>
                <a:ea typeface="Sylfaen"/>
                <a:cs typeface="Sylfaen"/>
              </a:defRPr>
            </a:pPr>
            <a:r>
              <a:rPr sz="975" b="0">
                <a:solidFill>
                  <a:srgbClr val="A8BBB2"/>
                </a:solidFill>
                <a:latin typeface="Sylfaen"/>
                <a:ea typeface="Sylfaen"/>
                <a:cs typeface="Sylfae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6A3F9-A56E-482C-AC75-562CF27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25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Հաջորդ փուլը պետք է ամրացնի իրական օգտագործումը և անհատականացված feedback-ը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C8423-2C31-4352-BEBE-6AECE413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356B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1E5BE-AE76-4C1F-9362-8DC761C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65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Շաբաթական վերանայում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36FDD-57B7-42D4-B9CC-E11C97F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ցուցադրել առաջընթացը, ուշացած նպատակները և հաջորդ կարևոր քայլը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3FA02-526A-4F73-A1F1-3247EE3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1930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356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1873E-FEDA-48C2-B114-D5D2463C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288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65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Usability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8797A-139F-4A7E-80FC-7F435F93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9080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ուսանողների և երիտասարդ մասնագետների մասնակցությամբ չափել հիմնական գործողությունների արագությունը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E1D69-BEAC-4B15-BA13-A0BDCB0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356B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56EC0-CC61-4D33-869A-E2914CA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65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Ծանուցումներ և calendar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D30FE-389A-456F-A8B7-05748B79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ավելացնել կարգավորվող push notification-ներ՝ առանց ավելորդ թվային ծանրաբեռնվածության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CD47D-C1C1-4C14-BA92-9BD3BD8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0045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2F"/>
          </a:solidFill>
          <a:ln xmlns:a="http://schemas.openxmlformats.org/drawingml/2006/main" w="9525">
            <a:solidFill>
              <a:srgbClr val="356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6908D-DC72-4473-8ED7-77343701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83E"/>
                </a:solidFill>
                <a:latin typeface="Sylfaen"/>
                <a:ea typeface="Sylfaen"/>
                <a:cs typeface="Sylfaen"/>
              </a:defRPr>
            </a:pPr>
            <a:r>
              <a:rPr sz="1650" b="1">
                <a:solidFill>
                  <a:srgbClr val="C9983E"/>
                </a:solidFill>
                <a:latin typeface="Sylfaen"/>
                <a:ea typeface="Sylfaen"/>
                <a:cs typeface="Sylfaen"/>
              </a:rPr>
              <a:t>PWA / mobile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5803B-B72A-4CEF-A601-6D158909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7195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E1"/>
                </a:solidFill>
                <a:latin typeface="Sylfaen"/>
                <a:ea typeface="Sylfaen"/>
                <a:cs typeface="Sylfaen"/>
              </a:defRPr>
            </a:pPr>
            <a:r>
              <a:rPr sz="1125" b="0">
                <a:solidFill>
                  <a:srgbClr val="DCE8E1"/>
                </a:solidFill>
                <a:latin typeface="Sylfaen"/>
                <a:ea typeface="Sylfaen"/>
                <a:cs typeface="Sylfaen"/>
              </a:rPr>
              <a:t>ընդլայնել համակարգը շարժական օգտագործման համար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24C0D-230B-41E4-8627-54A8FE8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67350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64496-C5C4-40B3-A3A2-885724C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912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9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Շնորհակալություն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ylfaen"/>
                <a:ea typeface="Sylfaen"/>
                <a:cs typeface="Sylfaen"/>
              </a:defRPr>
            </a:pPr>
            <a:r>
              <a:rPr sz="1950" b="1">
                <a:solidFill>
                  <a:srgbClr val="FFFFFF"/>
                </a:solidFill>
                <a:latin typeface="Sylfaen"/>
                <a:ea typeface="Sylfaen"/>
                <a:cs typeface="Sylfaen"/>
              </a:rPr>
              <a:t>Հարցեր</a:t>
            </a:r>
          </a:p>
        </p:txBody>
      </p:sp>
    </p:spTree>
    <p:extLst>
      <p:ext uri="{BB962C8B-B14F-4D97-AF65-F5344CB8AC3E}">
        <p14:creationId xmlns:p14="http://schemas.microsoft.com/office/powerpoint/2010/main" val="1847123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2026-05-20T09:38:49.5670000Z</dcterms:created>
  <dcterms:modified xsi:type="dcterms:W3CDTF">2026-05-20T09:38:49.5670000Z</dcterms:modified>
</coreProperties>
</file>